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DM Sans"/>
      <p:regular r:id="rId201314"/>
    </p:embeddedFont>
    <p:embeddedFont>
      <p:font typeface="DM Sans Bold"/>
      <p:regular r:id="rId201315"/>
    </p:embeddedFont>
    <p:embeddedFont>
      <p:font typeface="Libre Baskerville"/>
      <p:regular r:id="rId201316"/>
    </p:embeddedFont>
    <p:embeddedFont>
      <p:font typeface="Libre Baskerville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2.png"/><Relationship Id="rId7" Type="http://schemas.openxmlformats.org/officeDocument/2006/relationships/image" Target="../media/image-5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4.png"/><Relationship Id="rId7" Type="http://schemas.openxmlformats.org/officeDocument/2006/relationships/image" Target="../media/image-6-5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6-4.png"/><Relationship Id="rId3" Type="http://schemas.openxmlformats.org/officeDocument/2006/relationships/image" Target="../media/image-6-5.svg"/><Relationship Id="rId4" Type="http://schemas.openxmlformats.org/officeDocument/2006/relationships/image" Target="../media/image-6-2.png"/><Relationship Id="rId5" Type="http://schemas.openxmlformats.org/officeDocument/2006/relationships/image" Target="../media/image-6-3.svg"/><Relationship Id="rId6" Type="http://schemas.openxmlformats.org/officeDocument/2006/relationships/image" Target="../media/image-6-4.png"/><Relationship Id="rId7" Type="http://schemas.openxmlformats.org/officeDocument/2006/relationships/image" Target="../media/image-6-5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image" Target="../media/image-9-8.png"/><Relationship Id="rId9" Type="http://schemas.openxmlformats.org/officeDocument/2006/relationships/image" Target="../media/image-9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242939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Shopping Behavior Analysis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707705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Uncovering spending patterns, customer segments, and product preferences from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B88E2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3,900 transactions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to guide strategic business decisions.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795562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at a Glance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5233360" y="2669679"/>
            <a:ext cx="3053877" cy="1101824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28717" y="2865041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3,900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5428717" y="3273723"/>
            <a:ext cx="266316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Purchase records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8476244" y="2669679"/>
            <a:ext cx="3053976" cy="1101824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71601" y="2865041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18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671601" y="3273723"/>
            <a:ext cx="266326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Columns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233360" y="3960515"/>
            <a:ext cx="6296860" cy="1101824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28717" y="4155877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37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5428717" y="4564559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Missing values in Review Rating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7396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Data Features</a:t>
            </a:r>
            <a:endParaRPr lang="en-US" sz="3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871563"/>
            <a:ext cx="6913390" cy="3917652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13400" y="1587103"/>
            <a:ext cx="3523070" cy="138479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85848" y="1783358"/>
            <a:ext cx="3054373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Demographics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8285848" y="2226370"/>
            <a:ext cx="305437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Age, Gender, Location, Subscription Status</a:t>
            </a:r>
            <a:endParaRPr lang="en-US" sz="13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13400" y="3137991"/>
            <a:ext cx="3523070" cy="138479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285848" y="3334246"/>
            <a:ext cx="3054373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Purchase Details</a:t>
            </a:r>
            <a:endParaRPr lang="en-US" sz="1700" dirty="0"/>
          </a:p>
        </p:txBody>
      </p:sp>
      <p:sp>
        <p:nvSpPr>
          <p:cNvPr id="9" name="Text 4"/>
          <p:cNvSpPr/>
          <p:nvPr/>
        </p:nvSpPr>
        <p:spPr>
          <a:xfrm>
            <a:off x="8285848" y="3777258"/>
            <a:ext cx="305437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Item, Category, Amount, Season, Size, Color</a:t>
            </a:r>
            <a:endParaRPr lang="en-US" sz="13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13400" y="4688880"/>
            <a:ext cx="3523070" cy="138479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285848" y="4885134"/>
            <a:ext cx="3054373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Behavior</a:t>
            </a:r>
            <a:endParaRPr lang="en-US" sz="1700" dirty="0"/>
          </a:p>
        </p:txBody>
      </p:sp>
      <p:sp>
        <p:nvSpPr>
          <p:cNvPr id="12" name="Text 6"/>
          <p:cNvSpPr/>
          <p:nvPr/>
        </p:nvSpPr>
        <p:spPr>
          <a:xfrm>
            <a:off x="8285848" y="5328146"/>
            <a:ext cx="305437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Discount, Promo Code, Frequency, Rating, Shipping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46596"/>
            <a:ext cx="6296860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Python: Data Preparation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661475" y="1384796"/>
            <a:ext cx="732414" cy="1098649"/>
          </a:xfrm>
          <a:prstGeom prst="roundRect">
            <a:avLst>
              <a:gd name="adj" fmla="val 50000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90367" y="1762423"/>
            <a:ext cx="274631" cy="3432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1571189" y="1567855"/>
            <a:ext cx="5387146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Load &amp; Explore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571189" y="1960265"/>
            <a:ext cx="5387146" cy="301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pandas import, </a:t>
            </a:r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.info()</a:t>
            </a:r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.describe()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61475" y="2660749"/>
            <a:ext cx="732414" cy="1098649"/>
          </a:xfrm>
          <a:prstGeom prst="roundRect">
            <a:avLst>
              <a:gd name="adj" fmla="val 50000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90367" y="3038376"/>
            <a:ext cx="274631" cy="3432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150" dirty="0"/>
          </a:p>
        </p:txBody>
      </p:sp>
      <p:sp>
        <p:nvSpPr>
          <p:cNvPr id="10" name="Text 7"/>
          <p:cNvSpPr/>
          <p:nvPr/>
        </p:nvSpPr>
        <p:spPr>
          <a:xfrm>
            <a:off x="1571189" y="2843808"/>
            <a:ext cx="5387146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Clean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571189" y="3236218"/>
            <a:ext cx="5387146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Median imputation for Review Rating; snake_case renaming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61475" y="3936702"/>
            <a:ext cx="732414" cy="1098649"/>
          </a:xfrm>
          <a:prstGeom prst="roundRect">
            <a:avLst>
              <a:gd name="adj" fmla="val 50000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0367" y="4314329"/>
            <a:ext cx="274631" cy="3432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2150" dirty="0"/>
          </a:p>
        </p:txBody>
      </p:sp>
      <p:sp>
        <p:nvSpPr>
          <p:cNvPr id="14" name="Text 11"/>
          <p:cNvSpPr/>
          <p:nvPr/>
        </p:nvSpPr>
        <p:spPr>
          <a:xfrm>
            <a:off x="1571189" y="4119761"/>
            <a:ext cx="5387146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Engineer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571189" y="4512171"/>
            <a:ext cx="5387146" cy="301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Created </a:t>
            </a:r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&amp; </a:t>
            </a:r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purchase_frequency_days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61475" y="5212655"/>
            <a:ext cx="732414" cy="1098649"/>
          </a:xfrm>
          <a:prstGeom prst="roundRect">
            <a:avLst>
              <a:gd name="adj" fmla="val 50000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90367" y="5590282"/>
            <a:ext cx="274631" cy="3432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2150" dirty="0"/>
          </a:p>
        </p:txBody>
      </p:sp>
      <p:sp>
        <p:nvSpPr>
          <p:cNvPr id="18" name="Text 15"/>
          <p:cNvSpPr/>
          <p:nvPr/>
        </p:nvSpPr>
        <p:spPr>
          <a:xfrm>
            <a:off x="1571189" y="5395714"/>
            <a:ext cx="5387146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Integrate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571189" y="5788124"/>
            <a:ext cx="5387146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Loaded cleaned DataFrame into PostgreSQL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6455"/>
            <a:ext cx="10868745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SQL Analysis: Revenue Insights</a:t>
            </a:r>
            <a:endParaRPr lang="en-US" sz="3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4311" y="3119239"/>
            <a:ext cx="2570197" cy="1404838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08737" y="1492548"/>
            <a:ext cx="3527734" cy="135493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78209" y="1685826"/>
            <a:ext cx="3064989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Gender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8278209" y="2118618"/>
            <a:ext cx="3064989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Compared total revenue: male vs. female customers</a:t>
            </a:r>
            <a:endParaRPr lang="en-US" sz="13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08737" y="3008114"/>
            <a:ext cx="3527734" cy="162708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278209" y="3201392"/>
            <a:ext cx="3064989" cy="54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High-Spending Discount Users</a:t>
            </a:r>
            <a:endParaRPr lang="en-US" sz="1700" dirty="0"/>
          </a:p>
        </p:txBody>
      </p:sp>
      <p:sp>
        <p:nvSpPr>
          <p:cNvPr id="9" name="Text 4"/>
          <p:cNvSpPr/>
          <p:nvPr/>
        </p:nvSpPr>
        <p:spPr>
          <a:xfrm>
            <a:off x="8278209" y="3906341"/>
            <a:ext cx="3064989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Customers using discounts but spending </a:t>
            </a:r>
            <a:pPr algn="l"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above average</a:t>
            </a:r>
            <a:endParaRPr lang="en-US" sz="13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08737" y="4795838"/>
            <a:ext cx="3527734" cy="135493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278209" y="4989116"/>
            <a:ext cx="3064989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Age Group</a:t>
            </a:r>
            <a:endParaRPr lang="en-US" sz="1700" dirty="0"/>
          </a:p>
        </p:txBody>
      </p:sp>
      <p:sp>
        <p:nvSpPr>
          <p:cNvPr id="12" name="Text 6"/>
          <p:cNvSpPr/>
          <p:nvPr/>
        </p:nvSpPr>
        <p:spPr>
          <a:xfrm>
            <a:off x="8278209" y="5421908"/>
            <a:ext cx="3064989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 revenue compared across customer age segments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6752"/>
            <a:ext cx="10868745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SQL Analysis: Products &amp; Shipping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3855" y="2689126"/>
            <a:ext cx="4155971" cy="2230537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99411" y="1446312"/>
            <a:ext cx="3537060" cy="129678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62929" y="1633637"/>
            <a:ext cx="3086221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 5 Products by Rating</a:t>
            </a:r>
            <a:endParaRPr lang="en-US" sz="1650" dirty="0"/>
          </a:p>
        </p:txBody>
      </p:sp>
      <p:sp>
        <p:nvSpPr>
          <p:cNvPr id="6" name="Text 2"/>
          <p:cNvSpPr/>
          <p:nvPr/>
        </p:nvSpPr>
        <p:spPr>
          <a:xfrm>
            <a:off x="8262929" y="2046585"/>
            <a:ext cx="3086221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Highest average review ratings identified</a:t>
            </a:r>
            <a:endParaRPr lang="en-US" sz="13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99411" y="2893020"/>
            <a:ext cx="3537060" cy="155981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262929" y="3080345"/>
            <a:ext cx="3086221" cy="526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Avg. Spend by Shipping Type</a:t>
            </a:r>
            <a:endParaRPr lang="en-US" sz="1650" dirty="0"/>
          </a:p>
        </p:txBody>
      </p:sp>
      <p:sp>
        <p:nvSpPr>
          <p:cNvPr id="9" name="Text 4"/>
          <p:cNvSpPr/>
          <p:nvPr/>
        </p:nvSpPr>
        <p:spPr>
          <a:xfrm>
            <a:off x="8262929" y="3756323"/>
            <a:ext cx="3086221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Compared spending across shipping methods</a:t>
            </a:r>
            <a:endParaRPr lang="en-US" sz="13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99411" y="4602758"/>
            <a:ext cx="3537060" cy="155981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262929" y="4790083"/>
            <a:ext cx="3086221" cy="526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 3 Products per Category</a:t>
            </a:r>
            <a:endParaRPr lang="en-US" sz="1650" dirty="0"/>
          </a:p>
        </p:txBody>
      </p:sp>
      <p:sp>
        <p:nvSpPr>
          <p:cNvPr id="12" name="Text 6"/>
          <p:cNvSpPr/>
          <p:nvPr/>
        </p:nvSpPr>
        <p:spPr>
          <a:xfrm>
            <a:off x="8262929" y="5466060"/>
            <a:ext cx="3086221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Most purchased items within each category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6752"/>
            <a:ext cx="10868745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SQL Analysis: Customers &amp; Subscriptions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048" y="3188891"/>
            <a:ext cx="6407585" cy="1231007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99411" y="1446312"/>
            <a:ext cx="3537060" cy="155981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62929" y="1633637"/>
            <a:ext cx="3086221" cy="526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Subscribers vs. Non-Subscribers</a:t>
            </a:r>
            <a:endParaRPr lang="en-US" sz="1650" dirty="0"/>
          </a:p>
        </p:txBody>
      </p:sp>
      <p:sp>
        <p:nvSpPr>
          <p:cNvPr id="6" name="Text 2"/>
          <p:cNvSpPr/>
          <p:nvPr/>
        </p:nvSpPr>
        <p:spPr>
          <a:xfrm>
            <a:off x="8262929" y="2309614"/>
            <a:ext cx="3086221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spend &amp; total revenue by subscription status</a:t>
            </a:r>
            <a:endParaRPr lang="en-US" sz="13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99411" y="3156049"/>
            <a:ext cx="3537060" cy="129678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262929" y="3343374"/>
            <a:ext cx="3086221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Segmentation</a:t>
            </a:r>
            <a:endParaRPr lang="en-US" sz="1650" dirty="0"/>
          </a:p>
        </p:txBody>
      </p:sp>
      <p:sp>
        <p:nvSpPr>
          <p:cNvPr id="9" name="Text 4"/>
          <p:cNvSpPr/>
          <p:nvPr/>
        </p:nvSpPr>
        <p:spPr>
          <a:xfrm>
            <a:off x="8262929" y="3756323"/>
            <a:ext cx="3086221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Classified as </a:t>
            </a:r>
            <a:pPr algn="l" indent="0" marL="0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New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pPr algn="l" indent="0" marL="0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Returning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or </a:t>
            </a:r>
            <a:pPr algn="l" indent="0" marL="0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Loyal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by purchase history</a:t>
            </a:r>
            <a:endParaRPr lang="en-US" sz="13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99411" y="4602758"/>
            <a:ext cx="3537060" cy="155981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262929" y="4790083"/>
            <a:ext cx="3086221" cy="526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Repeat Buyers &amp; Subscriptions</a:t>
            </a:r>
            <a:endParaRPr lang="en-US" sz="1650" dirty="0"/>
          </a:p>
        </p:txBody>
      </p:sp>
      <p:sp>
        <p:nvSpPr>
          <p:cNvPr id="12" name="Text 6"/>
          <p:cNvSpPr/>
          <p:nvPr/>
        </p:nvSpPr>
        <p:spPr>
          <a:xfrm>
            <a:off x="8262929" y="5466060"/>
            <a:ext cx="3086221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Customers with &gt;5 purchases — more likely to subscribe?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556518"/>
            <a:ext cx="8314720" cy="517167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803503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Power BI Dashboard</a:t>
            </a:r>
            <a:endParaRPr lang="en-US" sz="1900" dirty="0"/>
          </a:p>
        </p:txBody>
      </p:sp>
      <p:sp>
        <p:nvSpPr>
          <p:cNvPr id="4" name="Text 1"/>
          <p:cNvSpPr/>
          <p:nvPr/>
        </p:nvSpPr>
        <p:spPr>
          <a:xfrm>
            <a:off x="661475" y="6183412"/>
            <a:ext cx="11478330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Interactive visual dashboard presenting all key insights — revenue, segments, products, and subscriptions — in one unified view.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80926"/>
            <a:ext cx="6296860" cy="415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Business Recommendations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233360" y="1136352"/>
            <a:ext cx="6296860" cy="1215132"/>
          </a:xfrm>
          <a:prstGeom prst="roundRect">
            <a:avLst>
              <a:gd name="adj" fmla="val 4594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372561" y="1275556"/>
            <a:ext cx="398651" cy="398661"/>
          </a:xfrm>
          <a:prstGeom prst="ellipse">
            <a:avLst/>
          </a:prstGeom>
          <a:solidFill>
            <a:srgbClr val="B88E23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82195" y="1385193"/>
            <a:ext cx="179383" cy="1793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72561" y="1767582"/>
            <a:ext cx="6018459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Boost Subscriptions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372561" y="2031206"/>
            <a:ext cx="6018459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 exclusive subscriber benefits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233360" y="2444849"/>
            <a:ext cx="6296860" cy="1215132"/>
          </a:xfrm>
          <a:prstGeom prst="roundRect">
            <a:avLst>
              <a:gd name="adj" fmla="val 4594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372561" y="2584053"/>
            <a:ext cx="398651" cy="398661"/>
          </a:xfrm>
          <a:prstGeom prst="ellipse">
            <a:avLst/>
          </a:prstGeom>
          <a:solidFill>
            <a:srgbClr val="B88E23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82195" y="2693690"/>
            <a:ext cx="179383" cy="17938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372561" y="3076079"/>
            <a:ext cx="6018459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Programs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5372561" y="3339703"/>
            <a:ext cx="6018459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Reward repeat buyers → Loyal segment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5233360" y="3753346"/>
            <a:ext cx="6296860" cy="1215132"/>
          </a:xfrm>
          <a:prstGeom prst="roundRect">
            <a:avLst>
              <a:gd name="adj" fmla="val 4594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372561" y="3892550"/>
            <a:ext cx="398651" cy="398661"/>
          </a:xfrm>
          <a:prstGeom prst="ellipse">
            <a:avLst/>
          </a:prstGeom>
          <a:solidFill>
            <a:srgbClr val="B88E23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82195" y="4002187"/>
            <a:ext cx="179383" cy="17938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372561" y="4384576"/>
            <a:ext cx="6018459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Review Discount Policy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5372561" y="4648200"/>
            <a:ext cx="6018459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Balance sales boosts with margin control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5233360" y="5061843"/>
            <a:ext cx="6296860" cy="1215132"/>
          </a:xfrm>
          <a:prstGeom prst="roundRect">
            <a:avLst>
              <a:gd name="adj" fmla="val 4594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5372561" y="5201047"/>
            <a:ext cx="398651" cy="398661"/>
          </a:xfrm>
          <a:prstGeom prst="ellipse">
            <a:avLst/>
          </a:prstGeom>
          <a:solidFill>
            <a:srgbClr val="B88E23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82195" y="5310684"/>
            <a:ext cx="179383" cy="17938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372561" y="5693073"/>
            <a:ext cx="6018459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Targeted Marketing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5372561" y="5956697"/>
            <a:ext cx="6018459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high-revenue age groups &amp; express-shipping users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538313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Conclusion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412430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structured end-to-end analysis —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B88E2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Python → PostgreSQL → Power BI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delivering actionable insights for segmentation, subscriptions, product promotion, and targeted marketing.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2026-09-16T20:00:22Z</dcterms:created>
  <dcterms:modified xsi:type="dcterms:W3CDTF">2026-09-16T20:00:22Z</dcterms:modified>
</cp:coreProperties>
</file>